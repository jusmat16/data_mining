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7"/>
  </p:notesMasterIdLst>
  <p:handoutMasterIdLst>
    <p:handoutMasterId r:id="rId28"/>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3" r:id="rId24"/>
    <p:sldId id="274" r:id="rId25"/>
    <p:sldId id="275" r:id="rId26"/>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4F8"/>
    <a:srgbClr val="0948CB"/>
    <a:srgbClr val="0B49CB"/>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85169"/>
  </p:normalViewPr>
  <p:slideViewPr>
    <p:cSldViewPr snapToGrid="0" snapToObjects="1">
      <p:cViewPr varScale="1">
        <p:scale>
          <a:sx n="94" d="100"/>
          <a:sy n="94" d="100"/>
        </p:scale>
        <p:origin x="1164" y="84"/>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11/29/2025</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project, I address the challenge of information overload in online education. My goal is to build a robust recommender system. I hypothesize that by combining user profile analysis with advanced embedding techniques, we can significantly improve recommendation accuracy.</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2120460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an exploratory data analysis. The bar chart illustrates the distribution of courses across different genres. We can observe that Machine Learning and Data Science are the most dominant topics in our dataset, indicating a strong user interest in these fields</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2293480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illustrates the User Profile method. We create a user vector based on the genres of courses they have rated highly. We then calculate a dot product between this user vector and the genre vectors of candidate courses to predict interest levels</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10</a:t>
            </a:fld>
            <a:endParaRPr lang="en-US"/>
          </a:p>
        </p:txBody>
      </p:sp>
    </p:spTree>
    <p:extLst>
      <p:ext uri="{BB962C8B-B14F-4D97-AF65-F5344CB8AC3E}">
        <p14:creationId xmlns:p14="http://schemas.microsoft.com/office/powerpoint/2010/main" val="697363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Top 10 recommendations from the User Profile Content-based method. The underlying process involves calculating a weighted user vector from past course genres and then matching it against the genre vectors of unseen courses using the dot product. This method is effective because it directly addresses the user's explicit subject matter interests.</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11</a:t>
            </a:fld>
            <a:endParaRPr lang="en-US"/>
          </a:p>
        </p:txBody>
      </p:sp>
    </p:spTree>
    <p:extLst>
      <p:ext uri="{BB962C8B-B14F-4D97-AF65-F5344CB8AC3E}">
        <p14:creationId xmlns:p14="http://schemas.microsoft.com/office/powerpoint/2010/main" val="83097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content-based method focuses on </a:t>
            </a:r>
            <a:r>
              <a:rPr lang="en-US" b="1" dirty="0"/>
              <a:t>item-to-item similarity</a:t>
            </a:r>
            <a:r>
              <a:rPr lang="en-US" dirty="0"/>
              <a:t>. We start by converting course textual content, such as titles and descriptions, into numerical features using techniques like </a:t>
            </a:r>
            <a:r>
              <a:rPr lang="en-US" b="1" dirty="0"/>
              <a:t>TF-IDF</a:t>
            </a:r>
            <a:r>
              <a:rPr lang="en-US" dirty="0"/>
              <a:t>. We then compute the </a:t>
            </a:r>
            <a:r>
              <a:rPr lang="en-US" b="1" dirty="0"/>
              <a:t>Cosine Similarity</a:t>
            </a:r>
            <a:r>
              <a:rPr lang="en-US" dirty="0"/>
              <a:t> across all course vectors to measure the relationship between every course pair. When generating recommendations, the system finds courses that are highly similar to the ones the user has already taken and enjoyed</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1728382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kern="1200" dirty="0" err="1">
                <a:solidFill>
                  <a:schemeClr val="tx1"/>
                </a:solidFill>
                <a:effectLst/>
                <a:latin typeface="+mn-lt"/>
                <a:ea typeface="+mn-ea"/>
                <a:cs typeface="+mn-cs"/>
              </a:rPr>
              <a:t>Menjelaskan</a:t>
            </a:r>
            <a:r>
              <a:rPr lang="en-ID" sz="1200" kern="1200" dirty="0">
                <a:solidFill>
                  <a:schemeClr val="tx1"/>
                </a:solidFill>
                <a:effectLst/>
                <a:latin typeface="+mn-lt"/>
                <a:ea typeface="+mn-ea"/>
                <a:cs typeface="+mn-cs"/>
              </a:rPr>
              <a:t> </a:t>
            </a:r>
            <a:r>
              <a:rPr lang="en-ID" sz="1200" kern="1200" dirty="0" err="1">
                <a:solidFill>
                  <a:schemeClr val="tx1"/>
                </a:solidFill>
                <a:effectLst/>
                <a:latin typeface="+mn-lt"/>
                <a:ea typeface="+mn-ea"/>
                <a:cs typeface="+mn-cs"/>
              </a:rPr>
              <a:t>bahwa</a:t>
            </a:r>
            <a:r>
              <a:rPr lang="en-ID" sz="1200" kern="1200" dirty="0">
                <a:solidFill>
                  <a:schemeClr val="tx1"/>
                </a:solidFill>
                <a:effectLst/>
                <a:latin typeface="+mn-lt"/>
                <a:ea typeface="+mn-ea"/>
                <a:cs typeface="+mn-cs"/>
              </a:rPr>
              <a:t> K-Means dan PCA </a:t>
            </a:r>
            <a:r>
              <a:rPr lang="en-ID" sz="1200" kern="1200" dirty="0" err="1">
                <a:solidFill>
                  <a:schemeClr val="tx1"/>
                </a:solidFill>
                <a:effectLst/>
                <a:latin typeface="+mn-lt"/>
                <a:ea typeface="+mn-ea"/>
                <a:cs typeface="+mn-cs"/>
              </a:rPr>
              <a:t>digunakan</a:t>
            </a:r>
            <a:r>
              <a:rPr lang="en-ID" sz="1200" kern="1200" dirty="0">
                <a:solidFill>
                  <a:schemeClr val="tx1"/>
                </a:solidFill>
                <a:effectLst/>
                <a:latin typeface="+mn-lt"/>
                <a:ea typeface="+mn-ea"/>
                <a:cs typeface="+mn-cs"/>
              </a:rPr>
              <a:t> </a:t>
            </a:r>
            <a:r>
              <a:rPr lang="en-ID" sz="1200" kern="1200" dirty="0" err="1">
                <a:solidFill>
                  <a:schemeClr val="tx1"/>
                </a:solidFill>
                <a:effectLst/>
                <a:latin typeface="+mn-lt"/>
                <a:ea typeface="+mn-ea"/>
                <a:cs typeface="+mn-cs"/>
              </a:rPr>
              <a:t>untuk</a:t>
            </a:r>
            <a:r>
              <a:rPr lang="en-ID" sz="1200" kern="1200" dirty="0">
                <a:solidFill>
                  <a:schemeClr val="tx1"/>
                </a:solidFill>
                <a:effectLst/>
                <a:latin typeface="+mn-lt"/>
                <a:ea typeface="+mn-ea"/>
                <a:cs typeface="+mn-cs"/>
              </a:rPr>
              <a:t> </a:t>
            </a:r>
            <a:r>
              <a:rPr lang="en-ID" sz="1200" kern="1200" dirty="0" err="1">
                <a:solidFill>
                  <a:schemeClr val="tx1"/>
                </a:solidFill>
                <a:effectLst/>
                <a:latin typeface="+mn-lt"/>
                <a:ea typeface="+mn-ea"/>
                <a:cs typeface="+mn-cs"/>
              </a:rPr>
              <a:t>segmentasi</a:t>
            </a:r>
            <a:r>
              <a:rPr lang="en-ID" sz="1200" kern="1200" dirty="0">
                <a:solidFill>
                  <a:schemeClr val="tx1"/>
                </a:solidFill>
                <a:effectLst/>
                <a:latin typeface="+mn-lt"/>
                <a:ea typeface="+mn-ea"/>
                <a:cs typeface="+mn-cs"/>
              </a:rPr>
              <a:t> dan </a:t>
            </a:r>
            <a:r>
              <a:rPr lang="en-ID" sz="1200" kern="1200" dirty="0" err="1">
                <a:solidFill>
                  <a:schemeClr val="tx1"/>
                </a:solidFill>
                <a:effectLst/>
                <a:latin typeface="+mn-lt"/>
                <a:ea typeface="+mn-ea"/>
                <a:cs typeface="+mn-cs"/>
              </a:rPr>
              <a:t>bahwa</a:t>
            </a:r>
            <a:r>
              <a:rPr lang="en-ID" sz="1200" kern="1200" dirty="0">
                <a:solidFill>
                  <a:schemeClr val="tx1"/>
                </a:solidFill>
                <a:effectLst/>
                <a:latin typeface="+mn-lt"/>
                <a:ea typeface="+mn-ea"/>
                <a:cs typeface="+mn-cs"/>
              </a:rPr>
              <a:t> 14 </a:t>
            </a:r>
            <a:r>
              <a:rPr lang="en-ID" sz="1200" kern="1200" dirty="0" err="1">
                <a:solidFill>
                  <a:schemeClr val="tx1"/>
                </a:solidFill>
                <a:effectLst/>
                <a:latin typeface="+mn-lt"/>
                <a:ea typeface="+mn-ea"/>
                <a:cs typeface="+mn-cs"/>
              </a:rPr>
              <a:t>kluster</a:t>
            </a:r>
            <a:r>
              <a:rPr lang="en-ID" sz="1200" kern="1200" dirty="0">
                <a:solidFill>
                  <a:schemeClr val="tx1"/>
                </a:solidFill>
                <a:effectLst/>
                <a:latin typeface="+mn-lt"/>
                <a:ea typeface="+mn-ea"/>
                <a:cs typeface="+mn-cs"/>
              </a:rPr>
              <a:t> </a:t>
            </a:r>
            <a:r>
              <a:rPr lang="en-ID" sz="1200" kern="1200" dirty="0" err="1">
                <a:solidFill>
                  <a:schemeClr val="tx1"/>
                </a:solidFill>
                <a:effectLst/>
                <a:latin typeface="+mn-lt"/>
                <a:ea typeface="+mn-ea"/>
                <a:cs typeface="+mn-cs"/>
              </a:rPr>
              <a:t>memberikan</a:t>
            </a:r>
            <a:r>
              <a:rPr lang="en-ID" sz="1200" kern="1200" dirty="0">
                <a:solidFill>
                  <a:schemeClr val="tx1"/>
                </a:solidFill>
                <a:effectLst/>
                <a:latin typeface="+mn-lt"/>
                <a:ea typeface="+mn-ea"/>
                <a:cs typeface="+mn-cs"/>
              </a:rPr>
              <a:t> </a:t>
            </a:r>
            <a:r>
              <a:rPr lang="en-ID" sz="1200" kern="1200" dirty="0" err="1">
                <a:solidFill>
                  <a:schemeClr val="tx1"/>
                </a:solidFill>
                <a:effectLst/>
                <a:latin typeface="+mn-lt"/>
                <a:ea typeface="+mn-ea"/>
                <a:cs typeface="+mn-cs"/>
              </a:rPr>
              <a:t>segmentasi</a:t>
            </a:r>
            <a:r>
              <a:rPr lang="en-ID" sz="1200" kern="1200" dirty="0">
                <a:solidFill>
                  <a:schemeClr val="tx1"/>
                </a:solidFill>
                <a:effectLst/>
                <a:latin typeface="+mn-lt"/>
                <a:ea typeface="+mn-ea"/>
                <a:cs typeface="+mn-cs"/>
              </a:rPr>
              <a:t> yang optimal, yang </a:t>
            </a:r>
            <a:r>
              <a:rPr lang="en-ID" sz="1200" kern="1200" dirty="0" err="1">
                <a:solidFill>
                  <a:schemeClr val="tx1"/>
                </a:solidFill>
                <a:effectLst/>
                <a:latin typeface="+mn-lt"/>
                <a:ea typeface="+mn-ea"/>
                <a:cs typeface="+mn-cs"/>
              </a:rPr>
              <a:t>menghasilkan</a:t>
            </a:r>
            <a:r>
              <a:rPr lang="en-ID" sz="1200" kern="1200" dirty="0">
                <a:solidFill>
                  <a:schemeClr val="tx1"/>
                </a:solidFill>
                <a:effectLst/>
                <a:latin typeface="+mn-lt"/>
                <a:ea typeface="+mn-ea"/>
                <a:cs typeface="+mn-cs"/>
              </a:rPr>
              <a:t> </a:t>
            </a:r>
            <a:r>
              <a:rPr lang="en-ID" sz="1200" i="1" kern="1200" dirty="0">
                <a:solidFill>
                  <a:schemeClr val="tx1"/>
                </a:solidFill>
                <a:effectLst/>
                <a:latin typeface="+mn-lt"/>
                <a:ea typeface="+mn-ea"/>
                <a:cs typeface="+mn-cs"/>
              </a:rPr>
              <a:t>serendipitous recommendations</a:t>
            </a:r>
            <a:r>
              <a:rPr lang="en-ID" sz="1200" kern="1200" dirty="0">
                <a:solidFill>
                  <a:schemeClr val="tx1"/>
                </a:solidFill>
                <a:effectLst/>
                <a:latin typeface="+mn-lt"/>
                <a:ea typeface="+mn-ea"/>
                <a:cs typeface="+mn-cs"/>
              </a:rPr>
              <a:t>.</a:t>
            </a:r>
          </a:p>
          <a:p>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2169784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err="1"/>
              <a:t>Menjelaskan</a:t>
            </a:r>
            <a:r>
              <a:rPr lang="en-ID" dirty="0"/>
              <a:t> </a:t>
            </a:r>
            <a:r>
              <a:rPr lang="en-ID" dirty="0" err="1"/>
              <a:t>bahwa</a:t>
            </a:r>
            <a:r>
              <a:rPr lang="en-ID" dirty="0"/>
              <a:t> plot </a:t>
            </a:r>
            <a:r>
              <a:rPr lang="en-ID" dirty="0" err="1"/>
              <a:t>menunjukkan</a:t>
            </a:r>
            <a:r>
              <a:rPr lang="en-ID" dirty="0"/>
              <a:t> </a:t>
            </a:r>
            <a:r>
              <a:rPr lang="en-ID" b="1" dirty="0"/>
              <a:t>14 </a:t>
            </a:r>
            <a:r>
              <a:rPr lang="en-ID" b="1" dirty="0" err="1"/>
              <a:t>kluster</a:t>
            </a:r>
            <a:r>
              <a:rPr lang="en-ID" dirty="0"/>
              <a:t> yang </a:t>
            </a:r>
            <a:r>
              <a:rPr lang="en-ID" dirty="0" err="1"/>
              <a:t>berbeda</a:t>
            </a:r>
            <a:r>
              <a:rPr lang="en-ID" dirty="0"/>
              <a:t>, </a:t>
            </a:r>
            <a:r>
              <a:rPr lang="en-ID" dirty="0" err="1"/>
              <a:t>memvalidasi</a:t>
            </a:r>
            <a:r>
              <a:rPr lang="en-ID" dirty="0"/>
              <a:t> </a:t>
            </a:r>
            <a:r>
              <a:rPr lang="en-ID" dirty="0" err="1"/>
              <a:t>segmentasi</a:t>
            </a:r>
            <a:r>
              <a:rPr lang="en-ID" dirty="0"/>
              <a:t> </a:t>
            </a:r>
            <a:r>
              <a:rPr lang="en-ID" dirty="0" err="1"/>
              <a:t>pengguna</a:t>
            </a:r>
            <a:r>
              <a:rPr lang="en-ID" dirty="0"/>
              <a:t> </a:t>
            </a:r>
            <a:r>
              <a:rPr lang="en-ID" dirty="0" err="1"/>
              <a:t>berdasarkan</a:t>
            </a:r>
            <a:r>
              <a:rPr lang="en-ID" dirty="0"/>
              <a:t> </a:t>
            </a:r>
            <a:r>
              <a:rPr lang="en-ID" dirty="0" err="1"/>
              <a:t>minat</a:t>
            </a:r>
            <a:r>
              <a:rPr lang="en-ID" dirty="0"/>
              <a:t> </a:t>
            </a:r>
            <a:r>
              <a:rPr lang="en-ID" dirty="0" err="1"/>
              <a:t>mereka</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2965499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Menjelaskan alur kerja KNN: mencari tetangga terdekat berdasarkan riwayat rating dan memprediksi rating item yang belum dilihat.</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19</a:t>
            </a:fld>
            <a:endParaRPr lang="en-US"/>
          </a:p>
        </p:txBody>
      </p:sp>
    </p:spTree>
    <p:extLst>
      <p:ext uri="{BB962C8B-B14F-4D97-AF65-F5344CB8AC3E}">
        <p14:creationId xmlns:p14="http://schemas.microsoft.com/office/powerpoint/2010/main" val="69911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NMF, </a:t>
            </a:r>
            <a:r>
              <a:rPr lang="en-ID" dirty="0" err="1"/>
              <a:t>atau</a:t>
            </a:r>
            <a:r>
              <a:rPr lang="en-ID" dirty="0"/>
              <a:t> Non-negative Matrix Factorization, </a:t>
            </a:r>
            <a:r>
              <a:rPr lang="en-ID" dirty="0" err="1"/>
              <a:t>adalah</a:t>
            </a:r>
            <a:r>
              <a:rPr lang="en-ID" dirty="0"/>
              <a:t> </a:t>
            </a:r>
            <a:r>
              <a:rPr lang="en-ID" dirty="0" err="1"/>
              <a:t>metode</a:t>
            </a:r>
            <a:r>
              <a:rPr lang="en-ID" dirty="0"/>
              <a:t> model-based CF. </a:t>
            </a:r>
            <a:r>
              <a:rPr lang="en-ID" dirty="0" err="1"/>
              <a:t>Ia</a:t>
            </a:r>
            <a:r>
              <a:rPr lang="en-ID" dirty="0"/>
              <a:t> </a:t>
            </a:r>
            <a:r>
              <a:rPr lang="en-ID" dirty="0" err="1"/>
              <a:t>bekerja</a:t>
            </a:r>
            <a:r>
              <a:rPr lang="en-ID" dirty="0"/>
              <a:t> </a:t>
            </a:r>
            <a:r>
              <a:rPr lang="en-ID" dirty="0" err="1"/>
              <a:t>dengan</a:t>
            </a:r>
            <a:r>
              <a:rPr lang="en-ID" dirty="0"/>
              <a:t> </a:t>
            </a:r>
            <a:r>
              <a:rPr lang="en-ID" dirty="0" err="1"/>
              <a:t>memecah</a:t>
            </a:r>
            <a:r>
              <a:rPr lang="en-ID" dirty="0"/>
              <a:t> </a:t>
            </a:r>
            <a:r>
              <a:rPr lang="en-ID" dirty="0" err="1"/>
              <a:t>matriks</a:t>
            </a:r>
            <a:r>
              <a:rPr lang="en-ID" dirty="0"/>
              <a:t> </a:t>
            </a:r>
            <a:r>
              <a:rPr lang="en-ID" dirty="0" err="1"/>
              <a:t>interaksi</a:t>
            </a:r>
            <a:r>
              <a:rPr lang="en-ID" dirty="0"/>
              <a:t> </a:t>
            </a:r>
            <a:r>
              <a:rPr lang="en-ID" dirty="0" err="1"/>
              <a:t>pengguna</a:t>
            </a:r>
            <a:r>
              <a:rPr lang="en-ID" dirty="0"/>
              <a:t>-item (R) </a:t>
            </a:r>
            <a:r>
              <a:rPr lang="en-ID" dirty="0" err="1"/>
              <a:t>menjadi</a:t>
            </a:r>
            <a:r>
              <a:rPr lang="en-ID" dirty="0"/>
              <a:t> dua </a:t>
            </a:r>
            <a:r>
              <a:rPr lang="en-ID" dirty="0" err="1"/>
              <a:t>matriks</a:t>
            </a:r>
            <a:r>
              <a:rPr lang="en-ID" dirty="0"/>
              <a:t> </a:t>
            </a:r>
            <a:r>
              <a:rPr lang="en-ID" dirty="0" err="1"/>
              <a:t>berperingkat</a:t>
            </a:r>
            <a:r>
              <a:rPr lang="en-ID" dirty="0"/>
              <a:t> </a:t>
            </a:r>
            <a:r>
              <a:rPr lang="en-ID" dirty="0" err="1"/>
              <a:t>lebih</a:t>
            </a:r>
            <a:r>
              <a:rPr lang="en-ID" dirty="0"/>
              <a:t> </a:t>
            </a:r>
            <a:r>
              <a:rPr lang="en-ID" dirty="0" err="1"/>
              <a:t>rendah</a:t>
            </a:r>
            <a:r>
              <a:rPr lang="en-ID" dirty="0"/>
              <a:t> (P dan Q), yang </a:t>
            </a:r>
            <a:r>
              <a:rPr lang="en-ID" dirty="0" err="1"/>
              <a:t>mewakili</a:t>
            </a:r>
            <a:r>
              <a:rPr lang="en-ID" dirty="0"/>
              <a:t> </a:t>
            </a:r>
            <a:r>
              <a:rPr lang="en-ID" dirty="0" err="1"/>
              <a:t>fitur</a:t>
            </a:r>
            <a:r>
              <a:rPr lang="en-ID" dirty="0"/>
              <a:t> </a:t>
            </a:r>
            <a:r>
              <a:rPr lang="en-ID" b="1" dirty="0"/>
              <a:t>laten</a:t>
            </a:r>
            <a:r>
              <a:rPr lang="en-ID" dirty="0"/>
              <a:t> </a:t>
            </a:r>
            <a:r>
              <a:rPr lang="en-ID" dirty="0" err="1"/>
              <a:t>pengguna</a:t>
            </a:r>
            <a:r>
              <a:rPr lang="en-ID" dirty="0"/>
              <a:t> dan item. </a:t>
            </a:r>
            <a:r>
              <a:rPr lang="en-ID" dirty="0" err="1"/>
              <a:t>Visualisasi</a:t>
            </a:r>
            <a:r>
              <a:rPr lang="en-ID" dirty="0"/>
              <a:t> </a:t>
            </a:r>
            <a:r>
              <a:rPr lang="en-ID" dirty="0" err="1"/>
              <a:t>ini</a:t>
            </a:r>
            <a:r>
              <a:rPr lang="en-ID" dirty="0"/>
              <a:t> </a:t>
            </a:r>
            <a:r>
              <a:rPr lang="en-ID" dirty="0" err="1"/>
              <a:t>menunjukkan</a:t>
            </a:r>
            <a:r>
              <a:rPr lang="en-ID" dirty="0"/>
              <a:t> </a:t>
            </a:r>
            <a:r>
              <a:rPr lang="en-ID" dirty="0" err="1"/>
              <a:t>bagaimana</a:t>
            </a:r>
            <a:r>
              <a:rPr lang="en-ID" dirty="0"/>
              <a:t> kami </a:t>
            </a:r>
            <a:r>
              <a:rPr lang="en-ID" dirty="0" err="1"/>
              <a:t>merekonstruksi</a:t>
            </a:r>
            <a:r>
              <a:rPr lang="en-ID" dirty="0"/>
              <a:t> </a:t>
            </a:r>
            <a:r>
              <a:rPr lang="en-ID" dirty="0" err="1"/>
              <a:t>matriks</a:t>
            </a:r>
            <a:r>
              <a:rPr lang="en-ID" dirty="0"/>
              <a:t> R' </a:t>
            </a:r>
            <a:r>
              <a:rPr lang="en-ID" dirty="0" err="1"/>
              <a:t>dengan</a:t>
            </a:r>
            <a:r>
              <a:rPr lang="en-ID" dirty="0"/>
              <a:t> </a:t>
            </a:r>
            <a:r>
              <a:rPr lang="en-ID" dirty="0" err="1"/>
              <a:t>mengalikan</a:t>
            </a:r>
            <a:r>
              <a:rPr lang="en-ID" dirty="0"/>
              <a:t> P dan Q, yang </a:t>
            </a:r>
            <a:r>
              <a:rPr lang="en-ID" dirty="0" err="1"/>
              <a:t>menghasilkan</a:t>
            </a:r>
            <a:r>
              <a:rPr lang="en-ID" dirty="0"/>
              <a:t> </a:t>
            </a:r>
            <a:r>
              <a:rPr lang="en-ID" dirty="0" err="1"/>
              <a:t>prediksi</a:t>
            </a:r>
            <a:r>
              <a:rPr lang="en-ID" dirty="0"/>
              <a:t> rating yang sangat </a:t>
            </a:r>
            <a:r>
              <a:rPr lang="en-ID" dirty="0" err="1"/>
              <a:t>akurat</a:t>
            </a:r>
            <a:endParaRPr lang="en-ID" dirty="0"/>
          </a:p>
        </p:txBody>
      </p:sp>
      <p:sp>
        <p:nvSpPr>
          <p:cNvPr id="4" name="Slide Number Placeholder 3"/>
          <p:cNvSpPr>
            <a:spLocks noGrp="1"/>
          </p:cNvSpPr>
          <p:nvPr>
            <p:ph type="sldNum" sz="quarter" idx="5"/>
          </p:nvPr>
        </p:nvSpPr>
        <p:spPr/>
        <p:txBody>
          <a:bodyPr/>
          <a:lstStyle/>
          <a:p>
            <a:fld id="{EEBDA0E2-FEBD-4B65-8F16-724CF984F377}" type="slidenum">
              <a:rPr lang="en-US" smtClean="0"/>
              <a:t>20</a:t>
            </a:fld>
            <a:endParaRPr lang="en-US"/>
          </a:p>
        </p:txBody>
      </p:sp>
    </p:spTree>
    <p:extLst>
      <p:ext uri="{BB962C8B-B14F-4D97-AF65-F5344CB8AC3E}">
        <p14:creationId xmlns:p14="http://schemas.microsoft.com/office/powerpoint/2010/main" val="3152458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11/29/2025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labs.cognitiveclass.ai/v2/tools/jupyterlab?ulid=ulid-dffd5ec3ec847cd59b139d336a11b3b4cfc6da0a" TargetMode="External"/><Relationship Id="rId4" Type="http://schemas.openxmlformats.org/officeDocument/2006/relationships/hyperlink" Target="https://labs.cognitiveclass.ai/v2/tools/jupyterlab?ulid=ulid-5891f225d69176e55d3e46a1081b511f8b2488f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820167"/>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251284" y="2767280"/>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251284" y="4166431"/>
            <a:ext cx="2514600" cy="738664"/>
          </a:xfrm>
          <a:prstGeom prst="rect">
            <a:avLst/>
          </a:prstGeom>
          <a:noFill/>
        </p:spPr>
        <p:txBody>
          <a:bodyPr wrap="square" lIns="91440" tIns="45720" rIns="91440" bIns="45720" rtlCol="0" anchor="t">
            <a:spAutoFit/>
          </a:bodyPr>
          <a:lstStyle/>
          <a:p>
            <a:r>
              <a:rPr lang="en-ID" dirty="0"/>
              <a:t>Justin Matthew T</a:t>
            </a:r>
            <a:endParaRPr lang="en-ID" b="1" dirty="0"/>
          </a:p>
          <a:p>
            <a:r>
              <a:rPr lang="en-ID" sz="2400" b="1" dirty="0">
                <a:latin typeface="Abadi" panose="020B0604020104020204" pitchFamily="34" charset="0"/>
              </a:rPr>
              <a:t>29 Nov 2025</a:t>
            </a:r>
            <a:endParaRPr lang="en-US" sz="2400" b="1" dirty="0">
              <a:latin typeface="Abadi" panose="020B0604020104020204" pitchFamily="34" charset="0"/>
            </a:endParaRP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rgbClr val="0B49CB"/>
                </a:solidFill>
                <a:latin typeface="Abadi"/>
              </a:rPr>
              <a:t>Outline</a:t>
            </a:r>
            <a:endParaRPr lang="en-US" dirty="0">
              <a:solidFill>
                <a:srgbClr val="0B49CB"/>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1605280"/>
            <a:ext cx="10399486" cy="3779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000" dirty="0">
                <a:solidFill>
                  <a:schemeClr val="tx1"/>
                </a:solidFill>
                <a:latin typeface="Times New Roman" panose="02020603050405020304" pitchFamily="18" charset="0"/>
                <a:cs typeface="Times New Roman" panose="02020603050405020304" pitchFamily="18" charset="0"/>
              </a:rPr>
              <a:t>Project background and context</a:t>
            </a:r>
          </a:p>
          <a:p>
            <a:pPr lvl="1">
              <a:spcBef>
                <a:spcPts val="1400"/>
              </a:spcBef>
            </a:pPr>
            <a:r>
              <a:rPr lang="en-US" sz="2000" dirty="0">
                <a:solidFill>
                  <a:schemeClr val="tx1"/>
                </a:solidFill>
                <a:latin typeface="Times New Roman" panose="02020603050405020304" pitchFamily="18" charset="0"/>
                <a:cs typeface="Times New Roman" panose="02020603050405020304" pitchFamily="18" charset="0"/>
              </a:rPr>
              <a:t>Online education platforms host thousands of courses, leading to information overload for users.</a:t>
            </a:r>
          </a:p>
          <a:p>
            <a:pPr>
              <a:spcBef>
                <a:spcPts val="1400"/>
              </a:spcBef>
            </a:pPr>
            <a:r>
              <a:rPr lang="en-US" sz="2000" dirty="0">
                <a:solidFill>
                  <a:schemeClr val="tx1"/>
                </a:solidFill>
                <a:latin typeface="Times New Roman" panose="02020603050405020304" pitchFamily="18" charset="0"/>
                <a:cs typeface="Times New Roman" panose="02020603050405020304" pitchFamily="18" charset="0"/>
              </a:rPr>
              <a:t>Problem states </a:t>
            </a:r>
          </a:p>
          <a:p>
            <a:pPr lvl="1">
              <a:spcBef>
                <a:spcPts val="1400"/>
              </a:spcBef>
            </a:pPr>
            <a:r>
              <a:rPr lang="en-US" sz="2000" dirty="0">
                <a:solidFill>
                  <a:schemeClr val="tx1"/>
                </a:solidFill>
                <a:latin typeface="Times New Roman" panose="02020603050405020304" pitchFamily="18" charset="0"/>
                <a:cs typeface="Times New Roman" panose="02020603050405020304" pitchFamily="18" charset="0"/>
              </a:rPr>
              <a:t>Users struggle to find relevant courses. We need a system to personalize the learning experience based on user activities and preferences</a:t>
            </a:r>
          </a:p>
          <a:p>
            <a:pPr>
              <a:spcBef>
                <a:spcPts val="1400"/>
              </a:spcBef>
            </a:pPr>
            <a:r>
              <a:rPr lang="en-US" sz="2000" dirty="0">
                <a:solidFill>
                  <a:schemeClr val="tx1"/>
                </a:solidFill>
                <a:latin typeface="Times New Roman" panose="02020603050405020304" pitchFamily="18" charset="0"/>
                <a:cs typeface="Times New Roman" panose="02020603050405020304" pitchFamily="18" charset="0"/>
              </a:rPr>
              <a:t>Hypotheses</a:t>
            </a:r>
          </a:p>
          <a:p>
            <a:pPr lvl="1"/>
            <a:r>
              <a:rPr lang="en-US" sz="2000" b="1" dirty="0">
                <a:solidFill>
                  <a:schemeClr val="tx1"/>
                </a:solidFill>
                <a:latin typeface="Times New Roman" panose="02020603050405020304" pitchFamily="18" charset="0"/>
                <a:cs typeface="Times New Roman" panose="02020603050405020304" pitchFamily="18" charset="0"/>
              </a:rPr>
              <a:t>H1:</a:t>
            </a:r>
            <a:r>
              <a:rPr lang="en-US" sz="2000" dirty="0">
                <a:solidFill>
                  <a:schemeClr val="tx1"/>
                </a:solidFill>
                <a:latin typeface="Times New Roman" panose="02020603050405020304" pitchFamily="18" charset="0"/>
                <a:cs typeface="Times New Roman" panose="02020603050405020304" pitchFamily="18" charset="0"/>
              </a:rPr>
              <a:t> Users with similar genre interests will prefer similar courses.</a:t>
            </a:r>
          </a:p>
          <a:p>
            <a:pPr lvl="1"/>
            <a:r>
              <a:rPr lang="en-US" sz="2000" b="1" dirty="0">
                <a:solidFill>
                  <a:schemeClr val="tx1"/>
                </a:solidFill>
                <a:latin typeface="Times New Roman" panose="02020603050405020304" pitchFamily="18" charset="0"/>
                <a:cs typeface="Times New Roman" panose="02020603050405020304" pitchFamily="18" charset="0"/>
              </a:rPr>
              <a:t>H2:</a:t>
            </a:r>
            <a:r>
              <a:rPr lang="en-US" sz="2000" dirty="0">
                <a:solidFill>
                  <a:schemeClr val="tx1"/>
                </a:solidFill>
                <a:latin typeface="Times New Roman" panose="02020603050405020304" pitchFamily="18" charset="0"/>
                <a:cs typeface="Times New Roman" panose="02020603050405020304" pitchFamily="18" charset="0"/>
              </a:rPr>
              <a:t> Neural Network embeddings can capture complex user-item interactions better than linear models.</a:t>
            </a: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pic>
        <p:nvPicPr>
          <p:cNvPr id="5" name="Picture 4">
            <a:extLst>
              <a:ext uri="{FF2B5EF4-FFF2-40B4-BE49-F238E27FC236}">
                <a16:creationId xmlns:a16="http://schemas.microsoft.com/office/drawing/2014/main" id="{2779358E-7842-99BC-6EF1-66456871670B}"/>
              </a:ext>
            </a:extLst>
          </p:cNvPr>
          <p:cNvPicPr>
            <a:picLocks noChangeAspect="1"/>
          </p:cNvPicPr>
          <p:nvPr/>
        </p:nvPicPr>
        <p:blipFill>
          <a:blip r:embed="rId2"/>
          <a:stretch>
            <a:fillRect/>
          </a:stretch>
        </p:blipFill>
        <p:spPr>
          <a:xfrm>
            <a:off x="1524763" y="1250704"/>
            <a:ext cx="9142473" cy="5038402"/>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enrollment distribution</a:t>
            </a:r>
          </a:p>
        </p:txBody>
      </p:sp>
      <p:pic>
        <p:nvPicPr>
          <p:cNvPr id="5" name="Picture 4">
            <a:extLst>
              <a:ext uri="{FF2B5EF4-FFF2-40B4-BE49-F238E27FC236}">
                <a16:creationId xmlns:a16="http://schemas.microsoft.com/office/drawing/2014/main" id="{82790B0A-0BAE-215A-CE00-C17D860DE720}"/>
              </a:ext>
            </a:extLst>
          </p:cNvPr>
          <p:cNvPicPr>
            <a:picLocks noChangeAspect="1"/>
          </p:cNvPicPr>
          <p:nvPr/>
        </p:nvPicPr>
        <p:blipFill>
          <a:blip r:embed="rId3"/>
          <a:stretch>
            <a:fillRect/>
          </a:stretch>
        </p:blipFill>
        <p:spPr>
          <a:xfrm>
            <a:off x="1785336" y="1281973"/>
            <a:ext cx="8621328" cy="5210902"/>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20 most popular courses</a:t>
            </a:r>
          </a:p>
        </p:txBody>
      </p:sp>
      <p:pic>
        <p:nvPicPr>
          <p:cNvPr id="5" name="Picture 4">
            <a:extLst>
              <a:ext uri="{FF2B5EF4-FFF2-40B4-BE49-F238E27FC236}">
                <a16:creationId xmlns:a16="http://schemas.microsoft.com/office/drawing/2014/main" id="{03CCB002-94C7-361B-F61E-FD15AE5BA2BE}"/>
              </a:ext>
            </a:extLst>
          </p:cNvPr>
          <p:cNvPicPr>
            <a:picLocks noChangeAspect="1"/>
          </p:cNvPicPr>
          <p:nvPr/>
        </p:nvPicPr>
        <p:blipFill>
          <a:blip r:embed="rId2"/>
          <a:stretch>
            <a:fillRect/>
          </a:stretch>
        </p:blipFill>
        <p:spPr>
          <a:xfrm>
            <a:off x="5089637" y="1353591"/>
            <a:ext cx="2012726" cy="4910482"/>
          </a:xfrm>
          <a:prstGeom prst="rect">
            <a:avLst/>
          </a:prstGeom>
        </p:spPr>
      </p:pic>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pic>
        <p:nvPicPr>
          <p:cNvPr id="3" name="Picture 2">
            <a:extLst>
              <a:ext uri="{FF2B5EF4-FFF2-40B4-BE49-F238E27FC236}">
                <a16:creationId xmlns:a16="http://schemas.microsoft.com/office/drawing/2014/main" id="{E233DB3C-5C46-5893-E20A-324F68C17525}"/>
              </a:ext>
            </a:extLst>
          </p:cNvPr>
          <p:cNvPicPr>
            <a:picLocks noChangeAspect="1"/>
          </p:cNvPicPr>
          <p:nvPr/>
        </p:nvPicPr>
        <p:blipFill>
          <a:blip r:embed="rId2"/>
          <a:stretch>
            <a:fillRect/>
          </a:stretch>
        </p:blipFill>
        <p:spPr>
          <a:xfrm>
            <a:off x="1599572" y="1299823"/>
            <a:ext cx="8992855" cy="4867954"/>
          </a:xfrm>
          <a:prstGeom prst="rect">
            <a:avLst/>
          </a:prstGeom>
        </p:spPr>
      </p:pic>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user profile and course genres</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3836043" y="370332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6515191" y="3429000"/>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Matching Process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2190123" y="3429000"/>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Data</a:t>
            </a:r>
          </a:p>
        </p:txBody>
      </p:sp>
      <p:sp>
        <p:nvSpPr>
          <p:cNvPr id="10" name="Rectangle 9">
            <a:extLst>
              <a:ext uri="{FF2B5EF4-FFF2-40B4-BE49-F238E27FC236}">
                <a16:creationId xmlns:a16="http://schemas.microsoft.com/office/drawing/2014/main" id="{BC66C45B-081E-7045-A932-30AF89330AF5}"/>
              </a:ext>
            </a:extLst>
          </p:cNvPr>
          <p:cNvSpPr/>
          <p:nvPr/>
        </p:nvSpPr>
        <p:spPr>
          <a:xfrm>
            <a:off x="4255234" y="3366436"/>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 User Profile Vector</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6096000" y="370332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8580302" y="3366436"/>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Ranking</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8161111" y="370170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Top 10 Recommendations (User Profile)</a:t>
            </a:r>
            <a:endParaRPr lang="en-US" sz="4000" b="1" dirty="0">
              <a:solidFill>
                <a:srgbClr val="0B49CB"/>
              </a:solidFill>
              <a:latin typeface="Abadi"/>
            </a:endParaRPr>
          </a:p>
        </p:txBody>
      </p:sp>
      <p:pic>
        <p:nvPicPr>
          <p:cNvPr id="3" name="Picture 2">
            <a:extLst>
              <a:ext uri="{FF2B5EF4-FFF2-40B4-BE49-F238E27FC236}">
                <a16:creationId xmlns:a16="http://schemas.microsoft.com/office/drawing/2014/main" id="{A59E1CAC-1FCD-84E2-74F9-2852144F7639}"/>
              </a:ext>
            </a:extLst>
          </p:cNvPr>
          <p:cNvPicPr>
            <a:picLocks noChangeAspect="1"/>
          </p:cNvPicPr>
          <p:nvPr/>
        </p:nvPicPr>
        <p:blipFill>
          <a:blip r:embed="rId3"/>
          <a:stretch>
            <a:fillRect/>
          </a:stretch>
        </p:blipFill>
        <p:spPr>
          <a:xfrm>
            <a:off x="3472891" y="1891501"/>
            <a:ext cx="6009302" cy="4072419"/>
          </a:xfrm>
          <a:prstGeom prst="rect">
            <a:avLst/>
          </a:prstGeom>
        </p:spPr>
      </p:pic>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Flowchart </a:t>
            </a:r>
            <a:r>
              <a:rPr lang="en-ID" sz="4000" dirty="0" err="1"/>
              <a:t>Sistem</a:t>
            </a:r>
            <a:r>
              <a:rPr lang="en-ID" sz="4000" dirty="0"/>
              <a:t> </a:t>
            </a:r>
            <a:r>
              <a:rPr lang="en-ID" sz="4000" dirty="0" err="1"/>
              <a:t>Rekomendasi</a:t>
            </a:r>
            <a:r>
              <a:rPr lang="en-ID" sz="4000" dirty="0"/>
              <a:t> </a:t>
            </a:r>
            <a:r>
              <a:rPr lang="en-ID" sz="4000" dirty="0" err="1"/>
              <a:t>Berbasis</a:t>
            </a:r>
            <a:r>
              <a:rPr lang="en-ID" sz="4000" dirty="0"/>
              <a:t> </a:t>
            </a:r>
            <a:r>
              <a:rPr lang="en-ID" sz="4000" dirty="0" err="1"/>
              <a:t>Konten</a:t>
            </a:r>
            <a:r>
              <a:rPr lang="en-ID" sz="4000" dirty="0"/>
              <a:t> (</a:t>
            </a:r>
            <a:r>
              <a:rPr lang="en-ID" sz="4000" dirty="0" err="1"/>
              <a:t>Profil</a:t>
            </a:r>
            <a:r>
              <a:rPr lang="en-ID" sz="4000" dirty="0"/>
              <a:t> </a:t>
            </a:r>
            <a:r>
              <a:rPr lang="en-ID" sz="4000" dirty="0" err="1"/>
              <a:t>Pengguna</a:t>
            </a:r>
            <a:r>
              <a:rPr lang="en-ID" sz="4000" dirty="0"/>
              <a:t> &amp; Genre </a:t>
            </a:r>
            <a:r>
              <a:rPr lang="en-ID" sz="4000" dirty="0" err="1"/>
              <a:t>Kursus</a:t>
            </a:r>
            <a:r>
              <a:rPr lang="en-ID" sz="4000" dirty="0"/>
              <a:t>)</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3" y="280201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1" y="252769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Matching Process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3" y="252769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Data</a:t>
            </a:r>
          </a:p>
        </p:txBody>
      </p:sp>
      <p:sp>
        <p:nvSpPr>
          <p:cNvPr id="10" name="Rectangle 9">
            <a:extLst>
              <a:ext uri="{FF2B5EF4-FFF2-40B4-BE49-F238E27FC236}">
                <a16:creationId xmlns:a16="http://schemas.microsoft.com/office/drawing/2014/main" id="{BC66C45B-081E-7045-A932-30AF89330AF5}"/>
              </a:ext>
            </a:extLst>
          </p:cNvPr>
          <p:cNvSpPr/>
          <p:nvPr/>
        </p:nvSpPr>
        <p:spPr>
          <a:xfrm>
            <a:off x="3013084" y="246513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 User Profile Vector</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50" y="280201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2" y="246513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Ranking</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1" y="280040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2364596"/>
            <a:ext cx="2065111" cy="87161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Top N Recommendations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8" y="280040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990EC49-67E6-E08A-4038-7D15468388F7}"/>
              </a:ext>
            </a:extLst>
          </p:cNvPr>
          <p:cNvPicPr>
            <a:picLocks noChangeAspect="1"/>
          </p:cNvPicPr>
          <p:nvPr/>
        </p:nvPicPr>
        <p:blipFill>
          <a:blip r:embed="rId2"/>
          <a:stretch>
            <a:fillRect/>
          </a:stretch>
        </p:blipFill>
        <p:spPr>
          <a:xfrm>
            <a:off x="4160647" y="3633522"/>
            <a:ext cx="4515396" cy="2218638"/>
          </a:xfrm>
          <a:prstGeom prst="rect">
            <a:avLst/>
          </a:prstGeom>
        </p:spPr>
      </p:pic>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Hasil &amp; </a:t>
            </a:r>
            <a:r>
              <a:rPr lang="en-ID" sz="4000" dirty="0" err="1"/>
              <a:t>Evaluasi</a:t>
            </a:r>
            <a:r>
              <a:rPr lang="en-ID" sz="4000" dirty="0"/>
              <a:t>: </a:t>
            </a:r>
            <a:r>
              <a:rPr lang="en-ID" sz="4000" dirty="0" err="1"/>
              <a:t>Sistem</a:t>
            </a:r>
            <a:r>
              <a:rPr lang="en-ID" sz="4000" dirty="0"/>
              <a:t> </a:t>
            </a:r>
            <a:r>
              <a:rPr lang="en-ID" sz="4000" dirty="0" err="1"/>
              <a:t>Rekomendasi</a:t>
            </a:r>
            <a:r>
              <a:rPr lang="en-ID" sz="4000" dirty="0"/>
              <a:t> </a:t>
            </a:r>
            <a:r>
              <a:rPr lang="en-ID" sz="4000" dirty="0" err="1"/>
              <a:t>Berbasis</a:t>
            </a:r>
            <a:r>
              <a:rPr lang="en-ID" sz="4000" dirty="0"/>
              <a:t> </a:t>
            </a:r>
            <a:r>
              <a:rPr lang="en-ID" sz="4000" dirty="0" err="1"/>
              <a:t>Konten</a:t>
            </a:r>
            <a:r>
              <a:rPr lang="en-ID" sz="4000" dirty="0"/>
              <a:t> (</a:t>
            </a:r>
            <a:r>
              <a:rPr lang="en-ID" sz="4000" dirty="0" err="1"/>
              <a:t>Profil</a:t>
            </a:r>
            <a:r>
              <a:rPr lang="en-ID" sz="4000" dirty="0"/>
              <a:t> </a:t>
            </a:r>
            <a:r>
              <a:rPr lang="en-ID" sz="4000" dirty="0" err="1"/>
              <a:t>Pengguna</a:t>
            </a:r>
            <a:r>
              <a:rPr lang="en-ID" sz="4000" dirty="0"/>
              <a:t> &amp; Genre)</a:t>
            </a:r>
          </a:p>
        </p:txBody>
      </p:sp>
      <p:sp>
        <p:nvSpPr>
          <p:cNvPr id="9" name="Title 3">
            <a:extLst>
              <a:ext uri="{FF2B5EF4-FFF2-40B4-BE49-F238E27FC236}">
                <a16:creationId xmlns:a16="http://schemas.microsoft.com/office/drawing/2014/main" id="{545AD02A-F2D5-3F95-371A-F6A5B748DCE3}"/>
              </a:ext>
            </a:extLst>
          </p:cNvPr>
          <p:cNvSpPr txBox="1">
            <a:spLocks/>
          </p:cNvSpPr>
          <p:nvPr/>
        </p:nvSpPr>
        <p:spPr>
          <a:xfrm>
            <a:off x="909320" y="24479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eaLnBrk="0" fontAlgn="base" hangingPunct="0">
              <a:lnSpc>
                <a:spcPct val="100000"/>
              </a:lnSpc>
              <a:spcAft>
                <a:spcPct val="0"/>
              </a:spcAft>
              <a:buFontTx/>
              <a:buChar char="•"/>
            </a:pPr>
            <a:r>
              <a:rPr lang="en-US" altLang="en-US" sz="2800" b="1" dirty="0">
                <a:latin typeface="Arial" panose="020B0604020202020204" pitchFamily="34" charset="0"/>
              </a:rPr>
              <a:t>Course A</a:t>
            </a:r>
            <a:r>
              <a:rPr lang="en-US" altLang="en-US" sz="2800" dirty="0">
                <a:latin typeface="Arial" panose="020B0604020202020204" pitchFamily="34" charset="0"/>
              </a:rPr>
              <a:t> (Genre: Data Science, Python) - Similarity: 0.98</a:t>
            </a:r>
          </a:p>
          <a:p>
            <a:pPr lvl="0" eaLnBrk="0" fontAlgn="base" hangingPunct="0">
              <a:lnSpc>
                <a:spcPct val="100000"/>
              </a:lnSpc>
              <a:spcAft>
                <a:spcPct val="0"/>
              </a:spcAft>
              <a:buFontTx/>
              <a:buChar char="•"/>
            </a:pPr>
            <a:r>
              <a:rPr lang="en-US" altLang="en-US" sz="2800" b="1" dirty="0">
                <a:latin typeface="Arial" panose="020B0604020202020204" pitchFamily="34" charset="0"/>
              </a:rPr>
              <a:t>Course B</a:t>
            </a:r>
            <a:r>
              <a:rPr lang="en-US" altLang="en-US" sz="2800" dirty="0">
                <a:latin typeface="Arial" panose="020B0604020202020204" pitchFamily="34" charset="0"/>
              </a:rPr>
              <a:t> (Genre: Data Science) - Similarity: 0.95</a:t>
            </a:r>
          </a:p>
          <a:p>
            <a:pPr lvl="0" eaLnBrk="0" fontAlgn="base" hangingPunct="0">
              <a:lnSpc>
                <a:spcPct val="100000"/>
              </a:lnSpc>
              <a:spcAft>
                <a:spcPct val="0"/>
              </a:spcAft>
              <a:buFontTx/>
              <a:buChar char="•"/>
            </a:pPr>
            <a:r>
              <a:rPr lang="en-US" altLang="en-US" sz="2800" b="1" dirty="0">
                <a:latin typeface="Arial" panose="020B0604020202020204" pitchFamily="34" charset="0"/>
              </a:rPr>
              <a:t>Course C</a:t>
            </a:r>
            <a:r>
              <a:rPr lang="en-US" altLang="en-US" sz="2800" dirty="0">
                <a:latin typeface="Arial" panose="020B0604020202020204" pitchFamily="34" charset="0"/>
              </a:rPr>
              <a:t> (Genre: Machine Learning, Python) - Similarity: 0.89</a:t>
            </a:r>
          </a:p>
        </p:txBody>
      </p:sp>
      <p:pic>
        <p:nvPicPr>
          <p:cNvPr id="12" name="Picture 11">
            <a:extLst>
              <a:ext uri="{FF2B5EF4-FFF2-40B4-BE49-F238E27FC236}">
                <a16:creationId xmlns:a16="http://schemas.microsoft.com/office/drawing/2014/main" id="{65D14DEC-E4C1-48F3-FC6F-B33D9026817F}"/>
              </a:ext>
            </a:extLst>
          </p:cNvPr>
          <p:cNvPicPr>
            <a:picLocks noChangeAspect="1"/>
          </p:cNvPicPr>
          <p:nvPr/>
        </p:nvPicPr>
        <p:blipFill>
          <a:blip r:embed="rId2"/>
          <a:stretch>
            <a:fillRect/>
          </a:stretch>
        </p:blipFill>
        <p:spPr>
          <a:xfrm>
            <a:off x="3987927" y="4050082"/>
            <a:ext cx="4515396" cy="2218638"/>
          </a:xfrm>
          <a:prstGeom prst="rect">
            <a:avLst/>
          </a:prstGeom>
        </p:spPr>
      </p:pic>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Flowchart </a:t>
            </a:r>
            <a:r>
              <a:rPr lang="en-ID" sz="4000" dirty="0" err="1"/>
              <a:t>Sistem</a:t>
            </a:r>
            <a:r>
              <a:rPr lang="en-ID" sz="4000" dirty="0"/>
              <a:t> </a:t>
            </a:r>
            <a:r>
              <a:rPr lang="en-ID" sz="4000" dirty="0" err="1"/>
              <a:t>Rekomendasi</a:t>
            </a:r>
            <a:r>
              <a:rPr lang="en-ID" sz="4000" dirty="0"/>
              <a:t> </a:t>
            </a:r>
            <a:r>
              <a:rPr lang="en-ID" sz="4000" dirty="0" err="1"/>
              <a:t>Berbasis</a:t>
            </a:r>
            <a:r>
              <a:rPr lang="en-ID" sz="4000" dirty="0"/>
              <a:t> </a:t>
            </a:r>
            <a:r>
              <a:rPr lang="en-ID" sz="4000" dirty="0" err="1"/>
              <a:t>Konten</a:t>
            </a:r>
            <a:r>
              <a:rPr lang="en-ID" sz="4000" dirty="0"/>
              <a:t> (</a:t>
            </a:r>
            <a:r>
              <a:rPr lang="en-ID" sz="4000" dirty="0" err="1"/>
              <a:t>Kesamaan</a:t>
            </a:r>
            <a:r>
              <a:rPr lang="en-ID" sz="4000" dirty="0"/>
              <a:t> </a:t>
            </a:r>
            <a:r>
              <a:rPr lang="en-ID" sz="4000" dirty="0" err="1"/>
              <a:t>Kursus</a:t>
            </a:r>
            <a:r>
              <a:rPr lang="en-ID" sz="4000" dirty="0"/>
              <a:t>)</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3650532" y="376588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6329680" y="349156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Calculate Similarity</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2004612" y="349156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Extract Course Text</a:t>
            </a:r>
          </a:p>
        </p:txBody>
      </p:sp>
      <p:sp>
        <p:nvSpPr>
          <p:cNvPr id="10" name="Rectangle 9">
            <a:extLst>
              <a:ext uri="{FF2B5EF4-FFF2-40B4-BE49-F238E27FC236}">
                <a16:creationId xmlns:a16="http://schemas.microsoft.com/office/drawing/2014/main" id="{BC66C45B-081E-7045-A932-30AF89330AF5}"/>
              </a:ext>
            </a:extLst>
          </p:cNvPr>
          <p:cNvSpPr/>
          <p:nvPr/>
        </p:nvSpPr>
        <p:spPr>
          <a:xfrm>
            <a:off x="4069723" y="342900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Extraction</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5910489" y="376588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8394791" y="342900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D" dirty="0">
                <a:solidFill>
                  <a:schemeClr val="tx1"/>
                </a:solidFill>
              </a:rPr>
              <a:t>Recommend </a:t>
            </a:r>
            <a:r>
              <a:rPr lang="en-ID" dirty="0" err="1">
                <a:solidFill>
                  <a:schemeClr val="tx1"/>
                </a:solidFill>
              </a:rPr>
              <a:t>Neighbors</a:t>
            </a:r>
            <a:endParaRPr lang="en-US" dirty="0">
              <a:solidFill>
                <a:schemeClr val="tx1"/>
              </a:solidFill>
            </a:endParaRP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7975600" y="376427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(Course Similarity)</a:t>
            </a:r>
          </a:p>
        </p:txBody>
      </p:sp>
      <p:sp>
        <p:nvSpPr>
          <p:cNvPr id="5" name="Title 3">
            <a:extLst>
              <a:ext uri="{FF2B5EF4-FFF2-40B4-BE49-F238E27FC236}">
                <a16:creationId xmlns:a16="http://schemas.microsoft.com/office/drawing/2014/main" id="{D43BFEB6-1B45-F4F8-9EDB-6917C81FD302}"/>
              </a:ext>
            </a:extLst>
          </p:cNvPr>
          <p:cNvSpPr txBox="1">
            <a:spLocks/>
          </p:cNvSpPr>
          <p:nvPr/>
        </p:nvSpPr>
        <p:spPr>
          <a:xfrm>
            <a:off x="838200" y="1690688"/>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badi"/>
              </a:rPr>
              <a:t>Feature Extraction: TF-IDF (Term Frequency-Inverse Document Frequency)</a:t>
            </a:r>
          </a:p>
          <a:p>
            <a:r>
              <a:rPr lang="en-US" sz="2400" dirty="0">
                <a:latin typeface="Abadi"/>
              </a:rPr>
              <a:t>Similarity Metric: Cosine Similarity</a:t>
            </a:r>
          </a:p>
          <a:p>
            <a:r>
              <a:rPr lang="en-US" sz="2400" dirty="0">
                <a:latin typeface="Abadi"/>
              </a:rPr>
              <a:t>Top 10 Courses:</a:t>
            </a:r>
          </a:p>
        </p:txBody>
      </p:sp>
      <p:pic>
        <p:nvPicPr>
          <p:cNvPr id="8" name="Picture 7">
            <a:extLst>
              <a:ext uri="{FF2B5EF4-FFF2-40B4-BE49-F238E27FC236}">
                <a16:creationId xmlns:a16="http://schemas.microsoft.com/office/drawing/2014/main" id="{385C5B8D-23D1-1903-E445-ED97940649B3}"/>
              </a:ext>
            </a:extLst>
          </p:cNvPr>
          <p:cNvPicPr>
            <a:picLocks noChangeAspect="1"/>
          </p:cNvPicPr>
          <p:nvPr/>
        </p:nvPicPr>
        <p:blipFill>
          <a:blip r:embed="rId2"/>
          <a:stretch>
            <a:fillRect/>
          </a:stretch>
        </p:blipFill>
        <p:spPr>
          <a:xfrm>
            <a:off x="3596639" y="3059391"/>
            <a:ext cx="4696833" cy="3182977"/>
          </a:xfrm>
          <a:prstGeom prst="rect">
            <a:avLst/>
          </a:prstGeom>
        </p:spPr>
      </p:pic>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Evaluation Results (Clustering)</a:t>
            </a:r>
            <a:endParaRPr lang="en-US" sz="4000" dirty="0">
              <a:solidFill>
                <a:srgbClr val="0B49CB"/>
              </a:solidFill>
              <a:latin typeface="Abadi"/>
            </a:endParaRPr>
          </a:p>
        </p:txBody>
      </p:sp>
      <p:sp>
        <p:nvSpPr>
          <p:cNvPr id="2" name="Title 3">
            <a:extLst>
              <a:ext uri="{FF2B5EF4-FFF2-40B4-BE49-F238E27FC236}">
                <a16:creationId xmlns:a16="http://schemas.microsoft.com/office/drawing/2014/main" id="{0225C165-3284-BE62-49BC-1881AE6897A7}"/>
              </a:ext>
            </a:extLst>
          </p:cNvPr>
          <p:cNvSpPr txBox="1">
            <a:spLocks/>
          </p:cNvSpPr>
          <p:nvPr/>
        </p:nvSpPr>
        <p:spPr>
          <a:xfrm>
            <a:off x="624840" y="11576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sz="2800" dirty="0"/>
              <a:t>1. </a:t>
            </a:r>
            <a:r>
              <a:rPr lang="en-ID" sz="2800" b="1" dirty="0"/>
              <a:t>Clustering Algorithm:</a:t>
            </a:r>
            <a:r>
              <a:rPr lang="en-ID" sz="2800" dirty="0"/>
              <a:t> K-Means</a:t>
            </a:r>
          </a:p>
          <a:p>
            <a:r>
              <a:rPr lang="en-ID" sz="2800" dirty="0"/>
              <a:t>2. </a:t>
            </a:r>
            <a:r>
              <a:rPr lang="en-ID" sz="2800" b="1" dirty="0"/>
              <a:t>Dimensionality Reduction:</a:t>
            </a:r>
            <a:r>
              <a:rPr lang="en-ID" sz="2800" dirty="0"/>
              <a:t> PCA</a:t>
            </a:r>
          </a:p>
          <a:p>
            <a:r>
              <a:rPr lang="en-ID" sz="2800" dirty="0"/>
              <a:t>3. </a:t>
            </a:r>
            <a:r>
              <a:rPr lang="en-ID" sz="2800" b="1" dirty="0"/>
              <a:t>Optimal Clusters (k):</a:t>
            </a:r>
            <a:r>
              <a:rPr lang="en-ID" sz="2800" dirty="0"/>
              <a:t> 14</a:t>
            </a:r>
          </a:p>
        </p:txBody>
      </p:sp>
      <p:pic>
        <p:nvPicPr>
          <p:cNvPr id="8" name="Picture 7">
            <a:extLst>
              <a:ext uri="{FF2B5EF4-FFF2-40B4-BE49-F238E27FC236}">
                <a16:creationId xmlns:a16="http://schemas.microsoft.com/office/drawing/2014/main" id="{77BD41B0-62EB-1F3C-623A-FE0C4FB73A9E}"/>
              </a:ext>
            </a:extLst>
          </p:cNvPr>
          <p:cNvPicPr>
            <a:picLocks noChangeAspect="1"/>
          </p:cNvPicPr>
          <p:nvPr/>
        </p:nvPicPr>
        <p:blipFill>
          <a:blip r:embed="rId3"/>
          <a:stretch>
            <a:fillRect/>
          </a:stretch>
        </p:blipFill>
        <p:spPr>
          <a:xfrm>
            <a:off x="624840" y="2483168"/>
            <a:ext cx="8153400" cy="4131908"/>
          </a:xfrm>
          <a:prstGeom prst="rect">
            <a:avLst/>
          </a:prstGeom>
        </p:spPr>
      </p:pic>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ID" sz="4000" dirty="0"/>
              <a:t>Clustering Visualization</a:t>
            </a:r>
            <a:endParaRPr lang="en-US" sz="4000" dirty="0">
              <a:solidFill>
                <a:srgbClr val="0B49CB"/>
              </a:solidFill>
              <a:latin typeface="Abadi"/>
            </a:endParaRPr>
          </a:p>
        </p:txBody>
      </p:sp>
      <p:pic>
        <p:nvPicPr>
          <p:cNvPr id="7" name="Picture 6">
            <a:extLst>
              <a:ext uri="{FF2B5EF4-FFF2-40B4-BE49-F238E27FC236}">
                <a16:creationId xmlns:a16="http://schemas.microsoft.com/office/drawing/2014/main" id="{8664F4CE-94ED-BD92-2E68-7E328BFD735C}"/>
              </a:ext>
            </a:extLst>
          </p:cNvPr>
          <p:cNvPicPr>
            <a:picLocks noChangeAspect="1"/>
          </p:cNvPicPr>
          <p:nvPr/>
        </p:nvPicPr>
        <p:blipFill>
          <a:blip r:embed="rId3"/>
          <a:stretch>
            <a:fillRect/>
          </a:stretch>
        </p:blipFill>
        <p:spPr>
          <a:xfrm>
            <a:off x="4464163" y="1472121"/>
            <a:ext cx="3263674" cy="4502441"/>
          </a:xfrm>
          <a:prstGeom prst="rect">
            <a:avLst/>
          </a:prstGeom>
        </p:spPr>
      </p:pic>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t>Flowchart of KNN-based Collaborative Filtering</a:t>
            </a:r>
            <a:endParaRPr lang="en-US" sz="4000" dirty="0">
              <a:solidFill>
                <a:srgbClr val="0B49C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Find K-Nearest Neighbors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3738880"/>
            <a:ext cx="1645920" cy="114593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User-Item Interaction Matrix</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Calculate User Similarity</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023362"/>
            <a:ext cx="1840766" cy="92401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Predict Rating (Weighted average)</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t>Flowchart of NMF-based Collaborative Filtering</a:t>
            </a:r>
            <a:endParaRPr lang="en-US" sz="4000" dirty="0">
              <a:solidFill>
                <a:srgbClr val="0B49CB"/>
              </a:solidFill>
              <a:latin typeface="Abadi"/>
            </a:endParaRPr>
          </a:p>
        </p:txBody>
      </p:sp>
      <p:cxnSp>
        <p:nvCxnSpPr>
          <p:cNvPr id="2" name="Straight Arrow Connector 1">
            <a:extLst>
              <a:ext uri="{FF2B5EF4-FFF2-40B4-BE49-F238E27FC236}">
                <a16:creationId xmlns:a16="http://schemas.microsoft.com/office/drawing/2014/main" id="{E124775E-3FB0-D2CA-83D0-9714045893EC}"/>
              </a:ext>
            </a:extLst>
          </p:cNvPr>
          <p:cNvCxnSpPr>
            <a:cxnSpLocks/>
          </p:cNvCxnSpPr>
          <p:nvPr/>
        </p:nvCxnSpPr>
        <p:spPr>
          <a:xfrm>
            <a:off x="3836043" y="368566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3BCCF38D-1E72-9843-1BA0-0B97EFDAEE67}"/>
              </a:ext>
            </a:extLst>
          </p:cNvPr>
          <p:cNvSpPr/>
          <p:nvPr/>
        </p:nvSpPr>
        <p:spPr>
          <a:xfrm>
            <a:off x="6515191" y="2984385"/>
            <a:ext cx="1645920" cy="132556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Latent Features (P &amp; Q)</a:t>
            </a:r>
          </a:p>
        </p:txBody>
      </p:sp>
      <p:sp>
        <p:nvSpPr>
          <p:cNvPr id="5" name="Rounded Rectangle 8">
            <a:extLst>
              <a:ext uri="{FF2B5EF4-FFF2-40B4-BE49-F238E27FC236}">
                <a16:creationId xmlns:a16="http://schemas.microsoft.com/office/drawing/2014/main" id="{19E4B47F-57A3-6122-3F5D-7FA424675848}"/>
              </a:ext>
            </a:extLst>
          </p:cNvPr>
          <p:cNvSpPr/>
          <p:nvPr/>
        </p:nvSpPr>
        <p:spPr>
          <a:xfrm>
            <a:off x="2190123" y="3074200"/>
            <a:ext cx="1645920" cy="114593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User-Item Interaction Matrix (R)</a:t>
            </a:r>
          </a:p>
        </p:txBody>
      </p:sp>
      <p:sp>
        <p:nvSpPr>
          <p:cNvPr id="8" name="Rectangle 7">
            <a:extLst>
              <a:ext uri="{FF2B5EF4-FFF2-40B4-BE49-F238E27FC236}">
                <a16:creationId xmlns:a16="http://schemas.microsoft.com/office/drawing/2014/main" id="{D6257C6D-8915-6893-458C-0AAB3580EE06}"/>
              </a:ext>
            </a:extLst>
          </p:cNvPr>
          <p:cNvSpPr/>
          <p:nvPr/>
        </p:nvSpPr>
        <p:spPr>
          <a:xfrm>
            <a:off x="4255234" y="2631438"/>
            <a:ext cx="1840766" cy="20314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Matrix Factorization (Decompose R into P and Q)</a:t>
            </a:r>
            <a:endParaRPr lang="en-US" dirty="0">
              <a:solidFill>
                <a:schemeClr val="tx1"/>
              </a:solidFill>
            </a:endParaRPr>
          </a:p>
        </p:txBody>
      </p:sp>
      <p:cxnSp>
        <p:nvCxnSpPr>
          <p:cNvPr id="9" name="Straight Arrow Connector 8">
            <a:extLst>
              <a:ext uri="{FF2B5EF4-FFF2-40B4-BE49-F238E27FC236}">
                <a16:creationId xmlns:a16="http://schemas.microsoft.com/office/drawing/2014/main" id="{7382254F-6360-4363-3E10-DD5EDCCF8442}"/>
              </a:ext>
            </a:extLst>
          </p:cNvPr>
          <p:cNvCxnSpPr>
            <a:cxnSpLocks/>
          </p:cNvCxnSpPr>
          <p:nvPr/>
        </p:nvCxnSpPr>
        <p:spPr>
          <a:xfrm>
            <a:off x="6096000" y="368566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83DF361-F98F-224A-9DB5-680D9022E5D0}"/>
              </a:ext>
            </a:extLst>
          </p:cNvPr>
          <p:cNvSpPr/>
          <p:nvPr/>
        </p:nvSpPr>
        <p:spPr>
          <a:xfrm>
            <a:off x="8580302" y="3185157"/>
            <a:ext cx="1840766" cy="92401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Rating Prediction</a:t>
            </a:r>
          </a:p>
        </p:txBody>
      </p:sp>
      <p:cxnSp>
        <p:nvCxnSpPr>
          <p:cNvPr id="11" name="Straight Arrow Connector 10">
            <a:extLst>
              <a:ext uri="{FF2B5EF4-FFF2-40B4-BE49-F238E27FC236}">
                <a16:creationId xmlns:a16="http://schemas.microsoft.com/office/drawing/2014/main" id="{1B041A20-5DFB-6054-C6D9-C6463673C74E}"/>
              </a:ext>
            </a:extLst>
          </p:cNvPr>
          <p:cNvCxnSpPr>
            <a:cxnSpLocks/>
          </p:cNvCxnSpPr>
          <p:nvPr/>
        </p:nvCxnSpPr>
        <p:spPr>
          <a:xfrm>
            <a:off x="8161111" y="368404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1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
        <p:nvSpPr>
          <p:cNvPr id="3" name="Content Placeholder 2">
            <a:extLst>
              <a:ext uri="{FF2B5EF4-FFF2-40B4-BE49-F238E27FC236}">
                <a16:creationId xmlns:a16="http://schemas.microsoft.com/office/drawing/2014/main" id="{CFEDC823-1D1A-0DC1-6E61-717B2E01AFE9}"/>
              </a:ext>
            </a:extLst>
          </p:cNvPr>
          <p:cNvSpPr>
            <a:spLocks noGrp="1" noChangeArrowheads="1"/>
          </p:cNvSpPr>
          <p:nvPr>
            <p:ph sz="half" idx="4294967295"/>
          </p:nvPr>
        </p:nvSpPr>
        <p:spPr bwMode="auto">
          <a:xfrm>
            <a:off x="769937" y="2203848"/>
            <a:ext cx="1060810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a:t>
            </a:r>
            <a:r>
              <a:rPr kumimoji="0" lang="en-US" altLang="en-US" sz="1800" b="1" i="0" u="none" strike="noStrike" cap="none" normalizeH="0" baseline="0" dirty="0" err="1">
                <a:ln>
                  <a:noFill/>
                </a:ln>
                <a:solidFill>
                  <a:schemeClr val="tx1"/>
                </a:solidFill>
                <a:effectLst/>
                <a:latin typeface="Arial" panose="020B0604020202020204" pitchFamily="34" charset="0"/>
              </a:rPr>
              <a:t>Terbaik</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NMF-based Collaborative Filtering </a:t>
            </a:r>
            <a:r>
              <a:rPr kumimoji="0" lang="en-US" altLang="en-US" sz="1800" b="0" i="0" u="none" strike="noStrike" cap="none" normalizeH="0" baseline="0" dirty="0" err="1">
                <a:ln>
                  <a:noFill/>
                </a:ln>
                <a:solidFill>
                  <a:schemeClr val="tx1"/>
                </a:solidFill>
                <a:effectLst/>
                <a:latin typeface="Arial" panose="020B0604020202020204" pitchFamily="34" charset="0"/>
              </a:rPr>
              <a:t>mencapai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RMSE </a:t>
            </a:r>
            <a:r>
              <a:rPr kumimoji="0" lang="en-US" altLang="en-US" sz="1800" b="1" i="0" u="none" strike="noStrike" cap="none" normalizeH="0" baseline="0" dirty="0" err="1">
                <a:ln>
                  <a:noFill/>
                </a:ln>
                <a:solidFill>
                  <a:schemeClr val="tx1"/>
                </a:solidFill>
                <a:effectLst/>
                <a:latin typeface="Arial" panose="020B0604020202020204" pitchFamily="34" charset="0"/>
              </a:rPr>
              <a:t>terendah</a:t>
            </a:r>
            <a:r>
              <a:rPr kumimoji="0" lang="en-US" altLang="en-US" sz="1800" b="1" i="0" u="none" strike="noStrike" cap="none" normalizeH="0" baseline="0" dirty="0">
                <a:ln>
                  <a:noFill/>
                </a:ln>
                <a:solidFill>
                  <a:schemeClr val="tx1"/>
                </a:solidFill>
                <a:effectLst/>
                <a:latin typeface="Arial" panose="020B0604020202020204" pitchFamily="34" charset="0"/>
              </a:rPr>
              <a:t> (1.12)</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membuktikan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efektivitasnya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dalam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mengidentifikasi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fitur</a:t>
            </a:r>
            <a:r>
              <a:rPr kumimoji="0" lang="en-US" altLang="en-US" sz="1800" b="0" i="0" u="none" strike="noStrike" cap="none" normalizeH="0" baseline="0" dirty="0">
                <a:ln>
                  <a:noFill/>
                </a:ln>
                <a:solidFill>
                  <a:schemeClr val="tx1"/>
                </a:solidFill>
                <a:effectLst/>
                <a:latin typeface="Arial" panose="020B0604020202020204" pitchFamily="34" charset="0"/>
              </a:rPr>
              <a:t> laten di </a:t>
            </a:r>
            <a:r>
              <a:rPr kumimoji="0" lang="en-US" altLang="en-US" sz="1800" b="0" i="0" u="none" strike="noStrike" cap="none" normalizeH="0" baseline="0" dirty="0" err="1">
                <a:ln>
                  <a:noFill/>
                </a:ln>
                <a:solidFill>
                  <a:schemeClr val="tx1"/>
                </a:solidFill>
                <a:effectLst/>
                <a:latin typeface="Arial" panose="020B0604020202020204" pitchFamily="34" charset="0"/>
              </a:rPr>
              <a:t>balik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interaksi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pengguna</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Validasi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1" u="none" strike="noStrike" cap="none" normalizeH="0" baseline="0" dirty="0">
                <a:ln>
                  <a:noFill/>
                </a:ln>
                <a:solidFill>
                  <a:schemeClr val="tx1"/>
                </a:solidFill>
                <a:effectLst/>
                <a:latin typeface="Arial" panose="020B0604020202020204" pitchFamily="34" charset="0"/>
              </a:rPr>
              <a:t>Embedding</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Pendekatan</a:t>
            </a:r>
            <a:r>
              <a:rPr kumimoji="0" lang="en-US" altLang="en-US" sz="1800" b="0" i="0" u="none" strike="noStrike" cap="none" normalizeH="0" baseline="0" dirty="0">
                <a:ln>
                  <a:noFill/>
                </a:ln>
                <a:solidFill>
                  <a:schemeClr val="tx1"/>
                </a:solidFill>
                <a:effectLst/>
                <a:latin typeface="Arial" panose="020B0604020202020204" pitchFamily="34" charset="0"/>
              </a:rPr>
              <a:t> Neural Network Embedding </a:t>
            </a:r>
            <a:r>
              <a:rPr kumimoji="0" lang="en-US" altLang="en-US" sz="1800" b="0" i="0" u="none" strike="noStrike" cap="none" normalizeH="0" baseline="0" dirty="0" err="1">
                <a:ln>
                  <a:noFill/>
                </a:ln>
                <a:solidFill>
                  <a:schemeClr val="tx1"/>
                </a:solidFill>
                <a:effectLst/>
                <a:latin typeface="Arial" panose="020B0604020202020204" pitchFamily="34" charset="0"/>
              </a:rPr>
              <a:t>menunjukkan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performa</a:t>
            </a:r>
            <a:r>
              <a:rPr kumimoji="0" lang="en-US" altLang="en-US" sz="1800" b="0" i="0" u="none" strike="noStrike" cap="none" normalizeH="0" baseline="0" dirty="0">
                <a:ln>
                  <a:noFill/>
                </a:ln>
                <a:solidFill>
                  <a:schemeClr val="tx1"/>
                </a:solidFill>
                <a:effectLst/>
                <a:latin typeface="Arial" panose="020B0604020202020204" pitchFamily="34" charset="0"/>
              </a:rPr>
              <a:t> yang </a:t>
            </a:r>
            <a:r>
              <a:rPr kumimoji="0" lang="en-US" altLang="en-US" sz="1800" b="0" i="0" u="none" strike="noStrike" cap="none" normalizeH="0" baseline="0" dirty="0" err="1">
                <a:ln>
                  <a:noFill/>
                </a:ln>
                <a:solidFill>
                  <a:schemeClr val="tx1"/>
                </a:solidFill>
                <a:effectLst/>
                <a:latin typeface="Arial" panose="020B0604020202020204" pitchFamily="34" charset="0"/>
              </a:rPr>
              <a:t>kompetitif</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RMSE 1.15</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memvalidasi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penggunaan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fitur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deep learning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untuk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prediksi</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Kekuatan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1" u="none" strike="noStrike" cap="none" normalizeH="0" baseline="0" dirty="0">
                <a:ln>
                  <a:noFill/>
                </a:ln>
                <a:solidFill>
                  <a:schemeClr val="tx1"/>
                </a:solidFill>
                <a:effectLst/>
                <a:latin typeface="Arial" panose="020B0604020202020204" pitchFamily="34" charset="0"/>
              </a:rPr>
              <a:t>Content-based</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Metode </a:t>
            </a:r>
            <a:r>
              <a:rPr kumimoji="0" lang="en-US" altLang="en-US" sz="1800" b="0" i="1" u="none" strike="noStrike" cap="none" normalizeH="0" baseline="0" dirty="0">
                <a:ln>
                  <a:noFill/>
                </a:ln>
                <a:solidFill>
                  <a:schemeClr val="tx1"/>
                </a:solidFill>
                <a:effectLst/>
                <a:latin typeface="Arial" panose="020B0604020202020204" pitchFamily="34" charset="0"/>
              </a:rPr>
              <a:t>Content-based</a:t>
            </a:r>
            <a:r>
              <a:rPr kumimoji="0" lang="en-US" altLang="en-US" sz="1800" b="0" i="0" u="none" strike="noStrike" cap="none" normalizeH="0" baseline="0" dirty="0">
                <a:ln>
                  <a:noFill/>
                </a:ln>
                <a:solidFill>
                  <a:schemeClr val="tx1"/>
                </a:solidFill>
                <a:effectLst/>
                <a:latin typeface="Arial" panose="020B0604020202020204" pitchFamily="34" charset="0"/>
              </a:rPr>
              <a:t> (User Profile &amp; Clustering) sangat </a:t>
            </a:r>
            <a:r>
              <a:rPr kumimoji="0" lang="en-US" altLang="en-US" sz="1800" b="0" i="0" u="none" strike="noStrike" cap="none" normalizeH="0" baseline="0" dirty="0" err="1">
                <a:ln>
                  <a:noFill/>
                </a:ln>
                <a:solidFill>
                  <a:schemeClr val="tx1"/>
                </a:solidFill>
                <a:effectLst/>
                <a:latin typeface="Arial" panose="020B0604020202020204" pitchFamily="34" charset="0"/>
              </a:rPr>
              <a:t>krusial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untuk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mengatasi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masalah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1" u="none" strike="noStrike" cap="none" normalizeH="0" baseline="0" dirty="0">
                <a:ln>
                  <a:noFill/>
                </a:ln>
                <a:solidFill>
                  <a:schemeClr val="tx1"/>
                </a:solidFill>
                <a:effectLst/>
                <a:latin typeface="Arial" panose="020B0604020202020204" pitchFamily="34" charset="0"/>
              </a:rPr>
              <a:t>cold-start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pengguna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baru</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kursus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baru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dengan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memberikan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rekomendasi</a:t>
            </a:r>
            <a:r>
              <a:rPr kumimoji="0" lang="en-US" altLang="en-US" sz="1800" b="0" i="0" u="none" strike="noStrike" cap="none" normalizeH="0" baseline="0" dirty="0">
                <a:ln>
                  <a:noFill/>
                </a:ln>
                <a:solidFill>
                  <a:schemeClr val="tx1"/>
                </a:solidFill>
                <a:effectLst/>
                <a:latin typeface="Arial" panose="020B0604020202020204" pitchFamily="34" charset="0"/>
              </a:rPr>
              <a:t> yang </a:t>
            </a:r>
            <a:r>
              <a:rPr kumimoji="0" lang="en-US" altLang="en-US" sz="1800" b="0" i="0" u="none" strike="noStrike" cap="none" normalizeH="0" baseline="0" dirty="0" err="1">
                <a:ln>
                  <a:noFill/>
                </a:ln>
                <a:solidFill>
                  <a:schemeClr val="tx1"/>
                </a:solidFill>
                <a:effectLst/>
                <a:latin typeface="Arial" panose="020B0604020202020204" pitchFamily="34" charset="0"/>
              </a:rPr>
              <a:t>dapat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dijelaskan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explainable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Rencana</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ke</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Depan</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Melakukan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deployment</a:t>
            </a:r>
            <a:r>
              <a:rPr kumimoji="0" lang="en-US" altLang="en-US" sz="1800" b="0" i="0" u="none" strike="noStrike" cap="none" normalizeH="0" baseline="0" dirty="0">
                <a:ln>
                  <a:noFill/>
                </a:ln>
                <a:solidFill>
                  <a:schemeClr val="tx1"/>
                </a:solidFill>
                <a:effectLst/>
                <a:latin typeface="Arial" panose="020B0604020202020204" pitchFamily="34" charset="0"/>
              </a:rPr>
              <a:t> model NMF </a:t>
            </a:r>
            <a:r>
              <a:rPr kumimoji="0" lang="en-US" altLang="en-US" sz="1800" b="0" i="0" u="none" strike="noStrike" cap="none" normalizeH="0" baseline="0" dirty="0" err="1">
                <a:ln>
                  <a:noFill/>
                </a:ln>
                <a:solidFill>
                  <a:schemeClr val="tx1"/>
                </a:solidFill>
                <a:effectLst/>
                <a:latin typeface="Arial" panose="020B0604020202020204" pitchFamily="34" charset="0"/>
              </a:rPr>
              <a:t>menggunakan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web framework</a:t>
            </a:r>
            <a:r>
              <a:rPr kumimoji="0" lang="en-US" altLang="en-US" sz="1800" b="0" i="0" u="none" strike="noStrike" cap="none" normalizeH="0" baseline="0" dirty="0">
                <a:ln>
                  <a:noFill/>
                </a:ln>
                <a:solidFill>
                  <a:schemeClr val="tx1"/>
                </a:solidFill>
                <a:effectLst/>
                <a:latin typeface="Arial" panose="020B0604020202020204" pitchFamily="34" charset="0"/>
              </a:rPr>
              <a:t> dan </a:t>
            </a:r>
            <a:r>
              <a:rPr kumimoji="0" lang="en-US" altLang="en-US" sz="1800" b="0" i="0" u="none" strike="noStrike" cap="none" normalizeH="0" baseline="0" dirty="0" err="1">
                <a:ln>
                  <a:noFill/>
                </a:ln>
                <a:solidFill>
                  <a:schemeClr val="tx1"/>
                </a:solidFill>
                <a:effectLst/>
                <a:latin typeface="Arial" panose="020B0604020202020204" pitchFamily="34" charset="0"/>
              </a:rPr>
              <a:t>memperluas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feature engineering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untuk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memasukkan</a:t>
            </a:r>
            <a:r>
              <a:rPr kumimoji="0" lang="en-US" altLang="en-US" sz="1800" b="0" i="0" u="none" strike="noStrike" cap="none" normalizeH="0" baseline="0" dirty="0">
                <a:ln>
                  <a:noFill/>
                </a:ln>
                <a:solidFill>
                  <a:schemeClr val="tx1"/>
                </a:solidFill>
                <a:effectLst/>
                <a:latin typeface="Arial" panose="020B0604020202020204" pitchFamily="34" charset="0"/>
              </a:rPr>
              <a:t> data temporal (</a:t>
            </a:r>
            <a:r>
              <a:rPr kumimoji="0" lang="en-US" altLang="en-US" sz="1800" b="0" i="0" u="none" strike="noStrike" cap="none" normalizeH="0" baseline="0" dirty="0" err="1">
                <a:ln>
                  <a:noFill/>
                </a:ln>
                <a:solidFill>
                  <a:schemeClr val="tx1"/>
                </a:solidFill>
                <a:effectLst/>
                <a:latin typeface="Arial" panose="020B0604020202020204" pitchFamily="34" charset="0"/>
              </a:rPr>
              <a:t>waktu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atau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tingkat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kesulitan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kursus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0123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000" dirty="0">
                <a:solidFill>
                  <a:schemeClr val="accent3">
                    <a:lumMod val="25000"/>
                  </a:schemeClr>
                </a:solidFill>
                <a:latin typeface="Abadi" panose="020B0604020104020204" pitchFamily="34" charset="0"/>
                <a:hlinkClick r:id="rId4"/>
              </a:rPr>
              <a:t>https://labs.cognitiveclass.ai/v2/tools/jupyterlab?ulid=ulid-5891f225d69176e55d3e46a1081b511f8b2488fd</a:t>
            </a:r>
            <a:endParaRPr lang="en-US" sz="2000" dirty="0">
              <a:solidFill>
                <a:schemeClr val="accent3">
                  <a:lumMod val="25000"/>
                </a:schemeClr>
              </a:solidFill>
              <a:latin typeface="Abadi" panose="020B0604020104020204" pitchFamily="34" charset="0"/>
            </a:endParaRPr>
          </a:p>
          <a:p>
            <a:pPr>
              <a:lnSpc>
                <a:spcPct val="100000"/>
              </a:lnSpc>
              <a:spcBef>
                <a:spcPts val="1400"/>
              </a:spcBef>
            </a:pPr>
            <a:r>
              <a:rPr lang="en-US" sz="2000" dirty="0">
                <a:solidFill>
                  <a:schemeClr val="accent3">
                    <a:lumMod val="25000"/>
                  </a:schemeClr>
                </a:solidFill>
                <a:latin typeface="Abadi" panose="020B0604020104020204" pitchFamily="34" charset="0"/>
                <a:hlinkClick r:id="rId5"/>
              </a:rPr>
              <a:t>https://labs.cognitiveclass.ai/v2/tools/jupyterlab?ulid=ulid-dffd5ec3ec847cd59b139d336a11b3b4cfc6da0a</a:t>
            </a:r>
            <a:endParaRPr lang="en-US" sz="2000" dirty="0">
              <a:solidFill>
                <a:schemeClr val="accent3">
                  <a:lumMod val="25000"/>
                </a:schemeClr>
              </a:solidFill>
              <a:latin typeface="Abadi" panose="020B0604020104020204" pitchFamily="34" charset="0"/>
            </a:endParaRPr>
          </a:p>
          <a:p>
            <a:pPr>
              <a:lnSpc>
                <a:spcPct val="100000"/>
              </a:lnSpc>
              <a:spcBef>
                <a:spcPts val="1400"/>
              </a:spcBef>
            </a:pPr>
            <a:r>
              <a:rPr lang="en-ID" sz="2000" b="1" dirty="0"/>
              <a:t>Technology Stack:</a:t>
            </a:r>
            <a:r>
              <a:rPr lang="en-ID" sz="2000" dirty="0"/>
              <a:t> Python, Pandas, Scikit-learn, Matplotlib, TensorFlow/</a:t>
            </a:r>
            <a:r>
              <a:rPr lang="en-ID" sz="2000" dirty="0" err="1"/>
              <a:t>Keras</a:t>
            </a:r>
            <a:r>
              <a:rPr lang="en-ID" sz="2000" dirty="0"/>
              <a:t> (</a:t>
            </a:r>
            <a:r>
              <a:rPr lang="en-ID" sz="2000" dirty="0" err="1"/>
              <a:t>untuk</a:t>
            </a:r>
            <a:r>
              <a:rPr lang="en-ID" sz="2000" dirty="0"/>
              <a:t> embeddings), </a:t>
            </a:r>
            <a:r>
              <a:rPr lang="en-ID" sz="2000" dirty="0" err="1"/>
              <a:t>Jupyter</a:t>
            </a:r>
            <a:r>
              <a:rPr lang="en-ID" sz="2000" dirty="0"/>
              <a:t> Notebook.</a:t>
            </a:r>
          </a:p>
          <a:p>
            <a:pPr>
              <a:lnSpc>
                <a:spcPct val="100000"/>
              </a:lnSpc>
              <a:spcBef>
                <a:spcPts val="1400"/>
              </a:spcBef>
            </a:pPr>
            <a:r>
              <a:rPr lang="en-ID" sz="2000" b="1" dirty="0" err="1"/>
              <a:t>Inovasi</a:t>
            </a:r>
            <a:r>
              <a:rPr lang="en-ID" sz="2000" b="1" dirty="0"/>
              <a:t> &amp; </a:t>
            </a:r>
            <a:r>
              <a:rPr lang="en-ID" sz="2000" b="1" dirty="0" err="1"/>
              <a:t>Kreativitas</a:t>
            </a:r>
            <a:r>
              <a:rPr lang="en-ID" sz="2000" b="1" dirty="0"/>
              <a:t>:</a:t>
            </a:r>
            <a:r>
              <a:rPr lang="en-ID" sz="2000" dirty="0"/>
              <a:t> </a:t>
            </a:r>
            <a:r>
              <a:rPr lang="en-ID" sz="2000" dirty="0" err="1"/>
              <a:t>Visualisasi</a:t>
            </a:r>
            <a:r>
              <a:rPr lang="en-ID" sz="2000" dirty="0"/>
              <a:t> PCA yang </a:t>
            </a:r>
            <a:r>
              <a:rPr lang="en-ID" sz="2000" dirty="0" err="1"/>
              <a:t>menunjukkan</a:t>
            </a:r>
            <a:r>
              <a:rPr lang="en-ID" sz="2000" dirty="0"/>
              <a:t> 14 </a:t>
            </a:r>
            <a:r>
              <a:rPr lang="en-ID" sz="2000" dirty="0" err="1"/>
              <a:t>kluster</a:t>
            </a:r>
            <a:r>
              <a:rPr lang="en-ID" sz="2000" dirty="0"/>
              <a:t> </a:t>
            </a:r>
            <a:r>
              <a:rPr lang="en-ID" sz="2000" dirty="0" err="1"/>
              <a:t>pengguna</a:t>
            </a:r>
            <a:r>
              <a:rPr lang="en-ID" sz="2000" dirty="0"/>
              <a:t> yang </a:t>
            </a:r>
            <a:r>
              <a:rPr lang="en-ID" sz="2000" dirty="0" err="1"/>
              <a:t>berbeda</a:t>
            </a:r>
            <a:r>
              <a:rPr lang="en-ID" sz="2000" dirty="0"/>
              <a:t> dan </a:t>
            </a:r>
            <a:r>
              <a:rPr lang="en-ID" sz="2000" dirty="0" err="1"/>
              <a:t>eksplorasi</a:t>
            </a:r>
            <a:r>
              <a:rPr lang="en-ID" sz="2000" dirty="0"/>
              <a:t> NMF.</a:t>
            </a:r>
            <a:endParaRPr lang="en-US" sz="2000" dirty="0">
              <a:solidFill>
                <a:schemeClr val="accent3">
                  <a:lumMod val="25000"/>
                </a:schemeClr>
              </a:solidFill>
              <a:latin typeface="Abadi" panose="020B0604020104020204" pitchFamily="34" charset="0"/>
            </a:endParaRPr>
          </a:p>
          <a:p>
            <a:pPr>
              <a:lnSpc>
                <a:spcPct val="100000"/>
              </a:lnSpc>
              <a:spcBef>
                <a:spcPts val="1400"/>
              </a:spcBef>
            </a:pPr>
            <a:endParaRPr lang="en-US" sz="2000" dirty="0">
              <a:solidFill>
                <a:schemeClr val="accent3">
                  <a:lumMod val="25000"/>
                </a:schemeClr>
              </a:solidFill>
              <a:latin typeface="Abadi" panose="020B0604020104020204" pitchFamily="34" charset="0"/>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2632</TotalTime>
  <Words>949</Words>
  <Application>Microsoft Office PowerPoint</Application>
  <PresentationFormat>Widescreen</PresentationFormat>
  <Paragraphs>106</Paragraphs>
  <Slides>22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Abadi</vt:lpstr>
      <vt:lpstr>Arial</vt:lpstr>
      <vt:lpstr>Calibri</vt:lpstr>
      <vt:lpstr>Times New Roman</vt: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Top 10 Recommendations (User Profile)</vt:lpstr>
      <vt:lpstr>Flowchart Sistem Rekomendasi Berbasis Konten (Profil Pengguna &amp; Genre Kursus)</vt:lpstr>
      <vt:lpstr>Hasil &amp; Evaluasi: Sistem Rekomendasi Berbasis Konten (Profil Pengguna &amp; Genre)</vt:lpstr>
      <vt:lpstr>Flowchart Sistem Rekomendasi Berbasis Konten (Kesamaan Kursus)</vt:lpstr>
      <vt:lpstr>Evaluation Results (Course Similarity)</vt:lpstr>
      <vt:lpstr>Collaborative-filtering Recommender System using Supervised Learning</vt:lpstr>
      <vt:lpstr>Evaluation Results (Clustering)</vt:lpstr>
      <vt:lpstr>Clustering Visualization</vt:lpstr>
      <vt:lpstr>Flowchart of KNN-based Collaborative Filtering</vt:lpstr>
      <vt:lpstr>Flowchart of NMF-based Collaborative Filtering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jovan santosa</cp:lastModifiedBy>
  <cp:revision>474</cp:revision>
  <dcterms:created xsi:type="dcterms:W3CDTF">2021-04-29T18:58:34Z</dcterms:created>
  <dcterms:modified xsi:type="dcterms:W3CDTF">2025-11-29T15:37:15Z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